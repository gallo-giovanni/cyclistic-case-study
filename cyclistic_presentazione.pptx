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totale_corse</c:v>
                </c:pt>
              </c:strCache>
            </c:strRef>
          </c:tx>
          <c:spPr>
            <a:solidFill>
              <a:srgbClr val="636E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Lunedi</c:v>
                  </c:pt>
                  <c:pt idx="1">
                    <c:v>Martedi</c:v>
                  </c:pt>
                  <c:pt idx="2">
                    <c:v>Mercoledi</c:v>
                  </c:pt>
                  <c:pt idx="3">
                    <c:v>Giovedi</c:v>
                  </c:pt>
                  <c:pt idx="4">
                    <c:v>Venerdi</c:v>
                  </c:pt>
                  <c:pt idx="5">
                    <c:v>Sabato</c:v>
                  </c:pt>
                  <c:pt idx="6">
                    <c:v>Domenica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765473</c:v>
                </c:pt>
                <c:pt idx="1">
                  <c:v>820229</c:v>
                </c:pt>
                <c:pt idx="2">
                  <c:v>823803</c:v>
                </c:pt>
                <c:pt idx="3">
                  <c:v>861089</c:v>
                </c:pt>
                <c:pt idx="4">
                  <c:v>864122</c:v>
                </c:pt>
                <c:pt idx="5">
                  <c:v>893002</c:v>
                </c:pt>
                <c:pt idx="6">
                  <c:v>766677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corse_member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Lunedi</c:v>
                  </c:pt>
                  <c:pt idx="1">
                    <c:v>Martedi</c:v>
                  </c:pt>
                  <c:pt idx="2">
                    <c:v>Mercoledi</c:v>
                  </c:pt>
                  <c:pt idx="3">
                    <c:v>Giovedi</c:v>
                  </c:pt>
                  <c:pt idx="4">
                    <c:v>Venerdi</c:v>
                  </c:pt>
                  <c:pt idx="5">
                    <c:v>Sabato</c:v>
                  </c:pt>
                  <c:pt idx="6">
                    <c:v>Domenica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523229</c:v>
                </c:pt>
                <c:pt idx="1">
                  <c:v>588184</c:v>
                </c:pt>
                <c:pt idx="2">
                  <c:v>589961</c:v>
                </c:pt>
                <c:pt idx="3">
                  <c:v>597023</c:v>
                </c:pt>
                <c:pt idx="4">
                  <c:v>544668</c:v>
                </c:pt>
                <c:pt idx="5">
                  <c:v>465752</c:v>
                </c:pt>
                <c:pt idx="6">
                  <c:v>411239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corse_casual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Lunedi</c:v>
                  </c:pt>
                  <c:pt idx="1">
                    <c:v>Martedi</c:v>
                  </c:pt>
                  <c:pt idx="2">
                    <c:v>Mercoledi</c:v>
                  </c:pt>
                  <c:pt idx="3">
                    <c:v>Giovedi</c:v>
                  </c:pt>
                  <c:pt idx="4">
                    <c:v>Venerdi</c:v>
                  </c:pt>
                  <c:pt idx="5">
                    <c:v>Sabato</c:v>
                  </c:pt>
                  <c:pt idx="6">
                    <c:v>Domenica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242244</c:v>
                </c:pt>
                <c:pt idx="1">
                  <c:v>232045</c:v>
                </c:pt>
                <c:pt idx="2">
                  <c:v>233842</c:v>
                </c:pt>
                <c:pt idx="3">
                  <c:v>264066</c:v>
                </c:pt>
                <c:pt idx="4">
                  <c:v>319454</c:v>
                </c:pt>
                <c:pt idx="5">
                  <c:v>427250</c:v>
                </c:pt>
                <c:pt idx="6">
                  <c:v>355438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D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D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Gennaio</c:v>
                  </c:pt>
                  <c:pt idx="1">
                    <c:v>Febbraio</c:v>
                  </c:pt>
                  <c:pt idx="2">
                    <c:v>Marzo</c:v>
                  </c:pt>
                  <c:pt idx="3">
                    <c:v>Aprile</c:v>
                  </c:pt>
                  <c:pt idx="4">
                    <c:v>Maggio</c:v>
                  </c:pt>
                  <c:pt idx="5">
                    <c:v>Giugno</c:v>
                  </c:pt>
                  <c:pt idx="6">
                    <c:v>Luglio</c:v>
                  </c:pt>
                  <c:pt idx="7">
                    <c:v>Agosto</c:v>
                  </c:pt>
                  <c:pt idx="8">
                    <c:v>Settembre</c:v>
                  </c:pt>
                  <c:pt idx="9">
                    <c:v>Ottobre</c:v>
                  </c:pt>
                  <c:pt idx="10">
                    <c:v>Novembre</c:v>
                  </c:pt>
                  <c:pt idx="11">
                    <c:v>Dicembre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24372</c:v>
                </c:pt>
                <c:pt idx="1">
                  <c:v>40737</c:v>
                </c:pt>
                <c:pt idx="2">
                  <c:v>86755</c:v>
                </c:pt>
                <c:pt idx="3">
                  <c:v>129881</c:v>
                </c:pt>
                <c:pt idx="4">
                  <c:v>241844</c:v>
                </c:pt>
                <c:pt idx="5">
                  <c:v>287934</c:v>
                </c:pt>
                <c:pt idx="6">
                  <c:v>319054</c:v>
                </c:pt>
                <c:pt idx="7">
                  <c:v>333824</c:v>
                </c:pt>
                <c:pt idx="8">
                  <c:v>262540</c:v>
                </c:pt>
                <c:pt idx="9">
                  <c:v>221599</c:v>
                </c:pt>
                <c:pt idx="10">
                  <c:v>98067</c:v>
                </c:pt>
                <c:pt idx="11">
                  <c:v>27732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member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Gennaio</c:v>
                  </c:pt>
                  <c:pt idx="1">
                    <c:v>Febbraio</c:v>
                  </c:pt>
                  <c:pt idx="2">
                    <c:v>Marzo</c:v>
                  </c:pt>
                  <c:pt idx="3">
                    <c:v>Aprile</c:v>
                  </c:pt>
                  <c:pt idx="4">
                    <c:v>Maggio</c:v>
                  </c:pt>
                  <c:pt idx="5">
                    <c:v>Giugno</c:v>
                  </c:pt>
                  <c:pt idx="6">
                    <c:v>Luglio</c:v>
                  </c:pt>
                  <c:pt idx="7">
                    <c:v>Agosto</c:v>
                  </c:pt>
                  <c:pt idx="8">
                    <c:v>Settembre</c:v>
                  </c:pt>
                  <c:pt idx="9">
                    <c:v>Ottobre</c:v>
                  </c:pt>
                  <c:pt idx="10">
                    <c:v>Novembre</c:v>
                  </c:pt>
                  <c:pt idx="11">
                    <c:v>Dicembre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111757</c:v>
                </c:pt>
                <c:pt idx="1">
                  <c:v>159035</c:v>
                </c:pt>
                <c:pt idx="2">
                  <c:v>227307</c:v>
                </c:pt>
                <c:pt idx="3">
                  <c:v>313814</c:v>
                </c:pt>
                <c:pt idx="4">
                  <c:v>404864</c:v>
                </c:pt>
                <c:pt idx="5">
                  <c:v>384174</c:v>
                </c:pt>
                <c:pt idx="6">
                  <c:v>436822</c:v>
                </c:pt>
                <c:pt idx="7">
                  <c:v>449332</c:v>
                </c:pt>
                <c:pt idx="8">
                  <c:v>446449</c:v>
                </c:pt>
                <c:pt idx="9">
                  <c:v>419480</c:v>
                </c:pt>
                <c:pt idx="10">
                  <c:v>255652</c:v>
                </c:pt>
                <c:pt idx="11">
                  <c:v>111370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D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D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1097280" cy="7543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Cyclistic Bike Sharing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 comportamento degli utenti: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vs Member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446227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~5.8M corse  |  Periodo: Giugno 2025 – Maggio 2026  |  Strumenti: Python · Pandas · Plotly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— Business Task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/ 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0F9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Domanda assegnata: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 che modo i membri annuali e i casual rider usano le bici Cyclistic in modo diverso?"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0F9F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ha chiesto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45643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Lily Moreno — Director of Marketing di Cyclistic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9718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0F9F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è importante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345643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member annuali sono più redditizi dei casual. Convertirli è la priorità strategica.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9718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0F9F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finale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345643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Progettare strategie di marketing data-driven per convertire i casual in abbonati.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— Fonti Dati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/ 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0F9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7276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 Divvy Bikes (Motivate International Inc.)  —  12 file CSV mensili  |  Giu 2025 – Mag 2026  |  ~5.8M record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0F9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816352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816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971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di prima parte raccolti direttamente da Divvy tramite sensori GPS sui mezzi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256032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0F9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2816352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2816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50208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50208" y="2971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originale, non aggregato da terze parti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56032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0F9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2816352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2816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84848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84848" y="2971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Copre tutte le corse del periodo, senza campionamento. Nessun valore nullo nelle colonne chiave: buon segnale di integrità.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74520" y="37947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0F9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84248" y="4050792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84248" y="4050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32888" y="3886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32888" y="4206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aggiornato agli ultimi 12 mesi di attività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7947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0F9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18888" y="4050792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4050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67528" y="3886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67528" y="4206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Licenza pubblica Motivate International Inc., dati anonimi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— Data Cleaning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/ 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0F9FB"/>
          </a:solidFill>
          <a:ln w="12700">
            <a:solidFill>
              <a:srgbClr val="E0EE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19072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6550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Unione dei 12 CSV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65506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pd.concat() su 12 DataFrame mensili → ride_year con ~5.8M righe. reset_index() per indice continuo.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542032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4780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 colonne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47802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Mantenute solo le colonne utili: ride_id, rideable_type, started_at, ended_at, member_casual. Aggiunto .copy() per evitare SettingWithCopyWarning.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0F9FB"/>
          </a:solidFill>
          <a:ln w="12700">
            <a:solidFill>
              <a:srgbClr val="E0EE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364992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3009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Rimozione duplicati e valori negativi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330098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drop_duplicates() per righe identiche. Eliminate 29 corse con ride_length ≤ 0 (dati impossibili).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06908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187952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87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1239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Rimozione outlier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412394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Identificate corse &lt;10 sec (false partenze) e &gt;3 ore (anomalie). Eliminate per non alterare le medie. Dataset finale: ~5.6M corse.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Obiettivo del Progetto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0F9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Capire come si comportano i rider casuali rispetto agli abbonati (member) per supportare strategie di marketing mirate alla conversione.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0F9F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3383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usano il servizio?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Frequenza, giorni e mesi preferiti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8346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0F9F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3383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quanto tempo?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Durata media delle corse per tipo utente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8346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0F9F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3383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tipo di bici usano?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Preferenze su classic, electric, scooter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0F9FB"/>
          </a:solidFill>
          <a:ln w="12700">
            <a:solidFill>
              <a:srgbClr val="E0EE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89304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9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216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Raccolta dati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1216152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file CSV mensili (giu 2025 – mag 2026) uniti in un unico DataFrame da ~5.8M righe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3911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85416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1122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2112264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Rimozione duplicati, valori nulli, corse con durata ≤0. Identificati outlier (&lt;10 sec, &gt;3 ore)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35224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0F9FB"/>
          </a:solidFill>
          <a:ln w="12700">
            <a:solidFill>
              <a:srgbClr val="E0EE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081528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0083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3008376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 outlier per non alterare le medie. Dataset finale: ~5.6M corse pulite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831336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97764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904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17520" y="3904488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per giorno, mese, durata e tipo di bici. Confronto sistematico casual vs member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Utilizzo per Giorno della Settimana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09728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F0F9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465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4652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I member usano il servizio soprattutto in settimana (pattern pendolare)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46520" y="2606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🏖️  I casual picco nel weekend: uso leisure/turistico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4652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Opportunità: promozioni settimanali per avvicinare i casual all'abbonamento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Stagionalità — Corse per Mese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09728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F0F9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465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4652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Picco estivo (lug–ago) per entrambi i segmenti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46520" y="2606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 Forte calo invernale: dic–feb i mesi più bassi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4652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Promozioni stagionali nei mesi freddi per mantenere alta l'attivazione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Preferenze per Tipo di Bici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member_casual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rideable_type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classic_bike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650.920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electric_bike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1.423.419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classic_bike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1.280.605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electric_bike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2.439.451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9728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0F9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5508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55080" y="1691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Entrambi i segmenti preferiscono l'e-bike sulla classic bike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55080" y="2606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 casual hanno un rapporto e-bike/classic più alto (2.2x) rispetto ai member (1.9x)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55080" y="3520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L'e-bike è già la scelta dominante: promuovere abbonamenti legati all'elettrico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Conclusioni &amp; Raccomandazioni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0D3B52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23444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Comportamento diverso per giorno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casual si concentrano nel weekend, i member in settimana. Target di conversione: offrire pass settimanali ai casual.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0D3B5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46888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Forte stagionalità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8346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 netto nei mesi freddi. Promozioni invernali e sistemi fedeltà (raccolta punti) per mantenere alta l'attivazione.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0D3B52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7033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Durata e tipo di mezzo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406908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casual pedalano più a lungo e preferiscono e-bike. Promozioni dedicate all'elettrico come leva di conversione.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realizzata da  ·  Python · Pandas · Plotly  ·  Dataset Cyclistic / Divvy Bikes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Bike Sharing — Case Study</dc:title>
  <dc:subject>PptxGenJS Presentation</dc:subject>
  <dc:creator>PptxGenJS</dc:creator>
  <cp:lastModifiedBy>PptxGenJS</cp:lastModifiedBy>
  <cp:revision>1</cp:revision>
  <dcterms:created xsi:type="dcterms:W3CDTF">2026-06-12T13:53:07Z</dcterms:created>
  <dcterms:modified xsi:type="dcterms:W3CDTF">2026-06-12T13:53:07Z</dcterms:modified>
</cp:coreProperties>
</file>